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image" Target="../media/image-3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image" Target="../media/image-34-4.png"/><Relationship Id="rId5" Type="http://schemas.openxmlformats.org/officeDocument/2006/relationships/image" Target="../media/image-34-5.png"/><Relationship Id="rId6" Type="http://schemas.openxmlformats.org/officeDocument/2006/relationships/image" Target="../media/image-3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42632" y="2011680"/>
            <a:ext cx="4206240" cy="4206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완전 입문자를 위한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77240" y="2286000"/>
            <a:ext cx="9601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교육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822960" y="379476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생성형 AI부터 Claude Code까지, 오늘 한 번에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294" y="618134"/>
            <a:ext cx="592531" cy="5925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91640" y="50292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오늘 아침에 AI를 몇 번 썼을까요?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85800" y="1600200"/>
            <a:ext cx="107899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33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스마트폰 카메라 보정</a:t>
            </a:r>
            <a:endParaRPr lang="en-US" sz="19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33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내비게이션 경로 추천</a:t>
            </a:r>
            <a:endParaRPr lang="en-US" sz="19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33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유튜브 추천 영상</a:t>
            </a:r>
            <a:endParaRPr lang="en-US" sz="19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33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메일 스팸 필터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685800" y="5394960"/>
            <a:ext cx="10789920" cy="914400"/>
          </a:xfrm>
          <a:prstGeom prst="roundRect">
            <a:avLst>
              <a:gd name="adj" fmla="val 8000"/>
            </a:avLst>
          </a:prstGeom>
          <a:solidFill>
            <a:srgbClr val="F3F6FE"/>
          </a:solidFill>
          <a:ln/>
          <a:effectLst>
            <a:outerShdw sx="100000" sy="100000" kx="0" ky="0" algn="bl" rotWithShape="0" blurRad="76200" dist="38100" dir="2700000">
              <a:srgbClr val="000000">
                <a:alpha val="1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14400" y="539496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 </a:t>
            </a:r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 하루에도 수십 번 AI를 쓰고 있습니다. 오늘은 이걸 "의도적으로, 더 잘" 쓰는 법을 배웁니다.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274552" y="6355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오늘 배울 4가지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1691640"/>
            <a:ext cx="10789920" cy="868680"/>
          </a:xfrm>
          <a:prstGeom prst="roundRect">
            <a:avLst>
              <a:gd name="adj" fmla="val 10526"/>
            </a:avLst>
          </a:prstGeom>
          <a:solidFill>
            <a:srgbClr val="F3F6FE"/>
          </a:solidFill>
          <a:ln/>
          <a:effectLst>
            <a:outerShdw sx="100000" sy="100000" kx="0" ky="0" algn="bl" rotWithShape="0" blurRad="76200" dist="38100" dir="27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783080"/>
            <a:ext cx="685800" cy="6858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412" y="1879092"/>
            <a:ext cx="493776" cy="4937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20240" y="169164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AI의 종류와 의미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583680" y="169164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생성형 · LLM · 코딩AI · 에이전트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85800" y="2743200"/>
            <a:ext cx="10789920" cy="868680"/>
          </a:xfrm>
          <a:prstGeom prst="roundRect">
            <a:avLst>
              <a:gd name="adj" fmla="val 10526"/>
            </a:avLst>
          </a:prstGeom>
          <a:solidFill>
            <a:srgbClr val="F3F6FE"/>
          </a:solidFill>
          <a:ln/>
          <a:effectLst>
            <a:outerShdw sx="100000" sy="100000" kx="0" ky="0" algn="bl" rotWithShape="0" blurRad="76200" dist="38100" dir="2700000">
              <a:srgbClr val="00000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914400" y="2834640"/>
            <a:ext cx="685800" cy="6858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2930652"/>
            <a:ext cx="493776" cy="49377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920240" y="274320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유용한 사이트 소개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6583680" y="274320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폰트 · 이미지 · 레퍼런스 사이트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85800" y="3794760"/>
            <a:ext cx="10789920" cy="868680"/>
          </a:xfrm>
          <a:prstGeom prst="roundRect">
            <a:avLst>
              <a:gd name="adj" fmla="val 10526"/>
            </a:avLst>
          </a:prstGeom>
          <a:solidFill>
            <a:srgbClr val="F3F6FE"/>
          </a:solidFill>
          <a:ln/>
          <a:effectLst>
            <a:outerShdw sx="100000" sy="100000" kx="0" ky="0" algn="bl" rotWithShape="0" blurRad="76200" dist="38100" dir="2700000">
              <a:srgbClr val="000000">
                <a:alpha val="1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914400" y="3886200"/>
            <a:ext cx="685800" cy="6858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982212"/>
            <a:ext cx="493776" cy="49377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920240" y="379476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AI 프롬프트 입력법</a:t>
            </a:r>
            <a:endParaRPr lang="en-US" sz="1900" dirty="0"/>
          </a:p>
        </p:txBody>
      </p:sp>
      <p:sp>
        <p:nvSpPr>
          <p:cNvPr id="17" name="Text 12"/>
          <p:cNvSpPr/>
          <p:nvPr/>
        </p:nvSpPr>
        <p:spPr>
          <a:xfrm>
            <a:off x="6583680" y="379476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오늘의 핵심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685800" y="4846320"/>
            <a:ext cx="10789920" cy="868680"/>
          </a:xfrm>
          <a:prstGeom prst="roundRect">
            <a:avLst>
              <a:gd name="adj" fmla="val 10526"/>
            </a:avLst>
          </a:prstGeom>
          <a:solidFill>
            <a:srgbClr val="F3F6FE"/>
          </a:solidFill>
          <a:ln/>
          <a:effectLst>
            <a:outerShdw sx="100000" sy="100000" kx="0" ky="0" algn="bl" rotWithShape="0" blurRad="76200" dist="38100" dir="2700000">
              <a:srgbClr val="000000">
                <a:alpha val="1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914400" y="4937760"/>
            <a:ext cx="685800" cy="6858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5033772"/>
            <a:ext cx="493776" cy="49377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920240" y="484632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Claude Code 소개</a:t>
            </a:r>
            <a:endParaRPr lang="en-US" sz="1900" dirty="0"/>
          </a:p>
        </p:txBody>
      </p:sp>
      <p:sp>
        <p:nvSpPr>
          <p:cNvPr id="22" name="Text 16"/>
          <p:cNvSpPr/>
          <p:nvPr/>
        </p:nvSpPr>
        <p:spPr>
          <a:xfrm>
            <a:off x="6583680" y="484632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실습 + 스킬 탐색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11274552" y="6355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294" y="618134"/>
            <a:ext cx="592531" cy="5925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91640" y="50292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 교육의 약속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85800" y="1600200"/>
            <a:ext cx="1078992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33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용어를 몰라도 됩니다 — 모든 개념은 비유로 설명합니다</a:t>
            </a:r>
            <a:endParaRPr lang="en-US" sz="19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33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직접 해봅니다 — 특히 3, 4번은 실습 중심입니다. 노트북을 켜두세요</a:t>
            </a:r>
            <a:endParaRPr lang="en-US" sz="19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33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정답은 없습니다 — 오늘은 감을 잡는 시간입니다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1274552" y="6355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48472" y="2148840"/>
            <a:ext cx="2560320" cy="2560320"/>
          </a:xfrm>
          <a:prstGeom prst="ellipse">
            <a:avLst/>
          </a:prstGeom>
          <a:solidFill>
            <a:srgbClr val="2A3B8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06917" y="2507285"/>
            <a:ext cx="1843430" cy="18434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55448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9600" dirty="0"/>
          </a:p>
        </p:txBody>
      </p:sp>
      <p:sp>
        <p:nvSpPr>
          <p:cNvPr id="5" name="Text 2"/>
          <p:cNvSpPr/>
          <p:nvPr/>
        </p:nvSpPr>
        <p:spPr>
          <a:xfrm>
            <a:off x="777240" y="32004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AI의 종류와 의미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777240" y="4343400"/>
            <a:ext cx="2377440" cy="502920"/>
          </a:xfrm>
          <a:prstGeom prst="roundRect">
            <a:avLst>
              <a:gd name="adj" fmla="val 50909"/>
            </a:avLst>
          </a:prstGeom>
          <a:solidFill>
            <a:srgbClr val="02C39A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43434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25분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274552" y="6355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1188720" cy="11887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501" y="715061"/>
            <a:ext cx="855878" cy="85587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57400" y="54864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생성형 AI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640080" y="205740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F3F6FE"/>
          </a:solidFill>
          <a:ln/>
          <a:effectLst>
            <a:outerShdw sx="100000" sy="100000" kx="0" ky="0" algn="bl" rotWithShape="0" blurRad="76200" dist="38100" dir="2700000">
              <a:srgbClr val="000000">
                <a:alpha val="1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14400" y="2057400"/>
            <a:ext cx="2011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한 줄 정의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926080" y="2057400"/>
            <a:ext cx="8412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글 · 이미지 · 영상 · 음악을 새로 만들어내는 AI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40080" y="342900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F3F6FE"/>
          </a:solidFill>
          <a:ln/>
          <a:effectLst>
            <a:outerShdw sx="100000" sy="100000" kx="0" ky="0" algn="bl" rotWithShape="0" blurRad="76200" dist="38100" dir="2700000">
              <a:srgbClr val="000000">
                <a:alpha val="1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14400" y="3429000"/>
            <a:ext cx="2011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비유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2926080" y="3429000"/>
            <a:ext cx="8412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백지에 그림을 그리는 화가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640080" y="480060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F3F6FE"/>
          </a:solidFill>
          <a:ln/>
          <a:effectLst>
            <a:outerShdw sx="100000" sy="100000" kx="0" ky="0" algn="bl" rotWithShape="0" blurRad="76200" dist="38100" dir="2700000">
              <a:srgbClr val="000000">
                <a:alpha val="1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914400" y="4800600"/>
            <a:ext cx="2011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예시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2926080" y="4800600"/>
            <a:ext cx="8412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ChatGPT, Midjourney, Suno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11274552" y="6355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1188720" cy="11887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501" y="715061"/>
            <a:ext cx="855878" cy="85587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57400" y="54864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(거대 언어 모델)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640080" y="205740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F3F6FE"/>
          </a:solidFill>
          <a:ln/>
          <a:effectLst>
            <a:outerShdw sx="100000" sy="100000" kx="0" ky="0" algn="bl" rotWithShape="0" blurRad="76200" dist="38100" dir="2700000">
              <a:srgbClr val="000000">
                <a:alpha val="1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14400" y="2057400"/>
            <a:ext cx="2011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한 줄 정의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926080" y="2057400"/>
            <a:ext cx="8412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생성형 AI 중 '언어'를 담당하는 두뇌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40080" y="342900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F3F6FE"/>
          </a:solidFill>
          <a:ln/>
          <a:effectLst>
            <a:outerShdw sx="100000" sy="100000" kx="0" ky="0" algn="bl" rotWithShape="0" blurRad="76200" dist="38100" dir="2700000">
              <a:srgbClr val="000000">
                <a:alpha val="1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14400" y="3429000"/>
            <a:ext cx="2011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비유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2926080" y="3429000"/>
            <a:ext cx="8412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책을 엄청 읽고 다음 말을 이어 쓰는 사람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640080" y="480060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F3F6FE"/>
          </a:solidFill>
          <a:ln/>
          <a:effectLst>
            <a:outerShdw sx="100000" sy="100000" kx="0" ky="0" algn="bl" rotWithShape="0" blurRad="76200" dist="38100" dir="2700000">
              <a:srgbClr val="000000">
                <a:alpha val="1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914400" y="4800600"/>
            <a:ext cx="2011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예시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2926080" y="4800600"/>
            <a:ext cx="8412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Claude, GPT, Gemini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11274552" y="6355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1188720" cy="11887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501" y="715061"/>
            <a:ext cx="855878" cy="85587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57400" y="54864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코딩 AI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640080" y="205740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F3F6FE"/>
          </a:solidFill>
          <a:ln/>
          <a:effectLst>
            <a:outerShdw sx="100000" sy="100000" kx="0" ky="0" algn="bl" rotWithShape="0" blurRad="76200" dist="38100" dir="2700000">
              <a:srgbClr val="000000">
                <a:alpha val="1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14400" y="2057400"/>
            <a:ext cx="2011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한 줄 정의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926080" y="2057400"/>
            <a:ext cx="8412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코드를 짜고 고쳐주는 데 특화된 AI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40080" y="342900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F3F6FE"/>
          </a:solidFill>
          <a:ln/>
          <a:effectLst>
            <a:outerShdw sx="100000" sy="100000" kx="0" ky="0" algn="bl" rotWithShape="0" blurRad="76200" dist="38100" dir="2700000">
              <a:srgbClr val="000000">
                <a:alpha val="1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14400" y="3429000"/>
            <a:ext cx="2011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비유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2926080" y="3429000"/>
            <a:ext cx="8412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옆자리 주니어 개발자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640080" y="480060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F3F6FE"/>
          </a:solidFill>
          <a:ln/>
          <a:effectLst>
            <a:outerShdw sx="100000" sy="100000" kx="0" ky="0" algn="bl" rotWithShape="0" blurRad="76200" dist="38100" dir="2700000">
              <a:srgbClr val="000000">
                <a:alpha val="1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914400" y="4800600"/>
            <a:ext cx="2011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예시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2926080" y="4800600"/>
            <a:ext cx="8412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Copilot, Cursor, Claude Code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11274552" y="6355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1188720" cy="11887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501" y="715061"/>
            <a:ext cx="855878" cy="85587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57400" y="54864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에이전트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640080" y="205740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F3F6FE"/>
          </a:solidFill>
          <a:ln/>
          <a:effectLst>
            <a:outerShdw sx="100000" sy="100000" kx="0" ky="0" algn="bl" rotWithShape="0" blurRad="76200" dist="38100" dir="2700000">
              <a:srgbClr val="000000">
                <a:alpha val="1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14400" y="2057400"/>
            <a:ext cx="2011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한 줄 정의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926080" y="2057400"/>
            <a:ext cx="8412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목표를 위해 여러 단계를 스스로 실행(파일 수정, 명령 실행)하는 AI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40080" y="342900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F3F6FE"/>
          </a:solidFill>
          <a:ln/>
          <a:effectLst>
            <a:outerShdw sx="100000" sy="100000" kx="0" ky="0" algn="bl" rotWithShape="0" blurRad="76200" dist="38100" dir="2700000">
              <a:srgbClr val="000000">
                <a:alpha val="1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14400" y="3429000"/>
            <a:ext cx="2011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비유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2926080" y="3429000"/>
            <a:ext cx="8412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손발 달린 비서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640080" y="480060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F3F6FE"/>
          </a:solidFill>
          <a:ln/>
          <a:effectLst>
            <a:outerShdw sx="100000" sy="100000" kx="0" ky="0" algn="bl" rotWithShape="0" blurRad="76200" dist="38100" dir="2700000">
              <a:srgbClr val="000000">
                <a:alpha val="1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914400" y="4800600"/>
            <a:ext cx="2011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예시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2926080" y="4800600"/>
            <a:ext cx="8412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— 오늘 섹션4에서 직접 실습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11274552" y="6355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294" y="618134"/>
            <a:ext cx="592531" cy="5925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91640" y="5029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관계 정리 — 한 장 요약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1097280" y="1600200"/>
            <a:ext cx="9966960" cy="4709160"/>
          </a:xfrm>
          <a:prstGeom prst="roundRect">
            <a:avLst>
              <a:gd name="adj" fmla="val 2330"/>
            </a:avLst>
          </a:prstGeom>
          <a:solidFill>
            <a:srgbClr val="F3F6FE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371600" y="178308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생성형 AI  —  뭔가를 "만들어내는" AI 전체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1920240" y="2423160"/>
            <a:ext cx="8321040" cy="3566160"/>
          </a:xfrm>
          <a:prstGeom prst="roundRect">
            <a:avLst>
              <a:gd name="adj" fmla="val 3077"/>
            </a:avLst>
          </a:prstGeom>
          <a:solidFill>
            <a:srgbClr val="CADCFC"/>
          </a:solidFill>
          <a:ln/>
        </p:spPr>
      </p:sp>
      <p:sp>
        <p:nvSpPr>
          <p:cNvPr id="8" name="Text 5"/>
          <p:cNvSpPr/>
          <p:nvPr/>
        </p:nvSpPr>
        <p:spPr>
          <a:xfrm>
            <a:off x="2194560" y="26060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 —  그중 '언어'를 다루는 두뇌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468880" y="3291840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651760" y="34747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코딩 AI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2651760" y="3931920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LLM을 코드 작업에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특화시킨 것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(Copilot, Claude Code)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217920" y="3291840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400800" y="34747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에이전트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400800" y="3931920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LLM을 두뇌로 삼아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직접 실행까지 하는 것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(Claude Code)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1274552" y="6355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294" y="618134"/>
            <a:ext cx="592531" cy="5925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91640" y="50292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꼭 알아야 할 오해 3가지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85800" y="1600200"/>
            <a:ext cx="1078992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33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검색이 아니다 — 정답을 찾는 게 아니라 만들어낸다</a:t>
            </a:r>
            <a:endParaRPr lang="en-US" sz="19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33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틀릴 수 있다 (할루시네이션) — 날짜 · 수치 · 인용은 꼭 검증</a:t>
            </a:r>
            <a:endParaRPr lang="en-US" sz="19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33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최신 정보엔 한계가 있다 — 학습 시점 이후 소식은 모를 수 있음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1274552" y="6355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48472" y="2148840"/>
            <a:ext cx="2560320" cy="2560320"/>
          </a:xfrm>
          <a:prstGeom prst="ellipse">
            <a:avLst/>
          </a:prstGeom>
          <a:solidFill>
            <a:srgbClr val="2A3B8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06917" y="2507285"/>
            <a:ext cx="1843430" cy="18434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55448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600" dirty="0"/>
          </a:p>
        </p:txBody>
      </p:sp>
      <p:sp>
        <p:nvSpPr>
          <p:cNvPr id="5" name="Text 2"/>
          <p:cNvSpPr/>
          <p:nvPr/>
        </p:nvSpPr>
        <p:spPr>
          <a:xfrm>
            <a:off x="777240" y="32004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유용한 사이트 소개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777240" y="4343400"/>
            <a:ext cx="2377440" cy="502920"/>
          </a:xfrm>
          <a:prstGeom prst="roundRect">
            <a:avLst>
              <a:gd name="adj" fmla="val 50909"/>
            </a:avLst>
          </a:prstGeom>
          <a:solidFill>
            <a:srgbClr val="02C39A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43434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30분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274552" y="6355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294" y="618134"/>
            <a:ext cx="592531" cy="5925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91640" y="5029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폰트 수급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1979676" y="1691640"/>
            <a:ext cx="8229600" cy="4206240"/>
          </a:xfrm>
          <a:prstGeom prst="roundRect">
            <a:avLst>
              <a:gd name="adj" fmla="val 2609"/>
            </a:avLst>
          </a:prstGeom>
          <a:solidFill>
            <a:srgbClr val="F3F6FE"/>
          </a:solidFill>
          <a:ln/>
          <a:effectLst>
            <a:outerShdw sx="100000" sy="100000" kx="0" ky="0" algn="bl" rotWithShape="0" blurRad="76200" dist="38100" dir="2700000">
              <a:srgbClr val="000000">
                <a:alpha val="1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2345436" y="196596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눈누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2345436" y="256032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noonnu.cc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345436" y="3200400"/>
            <a:ext cx="749808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345436" y="3383280"/>
            <a:ext cx="74980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 팁  </a:t>
            </a:r>
            <a:pPr indent="0" marL="0">
              <a:buNone/>
            </a:pPr>
            <a:r>
              <a:rPr lang="en-US" sz="1400" dirty="0">
                <a:solidFill>
                  <a:srgbClr val="33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폰트별 라이선스(상업적 이용 범위)를 꼭 확인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274552" y="6355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294" y="618134"/>
            <a:ext cx="592531" cy="5925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91640" y="5029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AI용 PPT 프롬프트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1979676" y="1691640"/>
            <a:ext cx="8229600" cy="4206240"/>
          </a:xfrm>
          <a:prstGeom prst="roundRect">
            <a:avLst>
              <a:gd name="adj" fmla="val 2609"/>
            </a:avLst>
          </a:prstGeom>
          <a:solidFill>
            <a:srgbClr val="F3F6FE"/>
          </a:solidFill>
          <a:ln/>
          <a:effectLst>
            <a:outerShdw sx="100000" sy="100000" kx="0" ky="0" algn="bl" rotWithShape="0" blurRad="76200" dist="38100" dir="2700000">
              <a:srgbClr val="000000">
                <a:alpha val="1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2345436" y="196596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getdesign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2345436" y="256032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getdesign.md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345436" y="3200400"/>
            <a:ext cx="749808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345436" y="3383280"/>
            <a:ext cx="74980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 팁  </a:t>
            </a:r>
            <a:pPr indent="0" marL="0">
              <a:buNone/>
            </a:pPr>
            <a:r>
              <a:rPr lang="en-US" sz="1400" dirty="0">
                <a:solidFill>
                  <a:srgbClr val="33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얻은 프롬프트에 섹션3 '역·맥·작·형'을 더해 커스터마이징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274552" y="6355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294" y="618134"/>
            <a:ext cx="592531" cy="5925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91640" y="5029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사진 스케일업 (업스케일)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1979676" y="1691640"/>
            <a:ext cx="8229600" cy="4206240"/>
          </a:xfrm>
          <a:prstGeom prst="roundRect">
            <a:avLst>
              <a:gd name="adj" fmla="val 2609"/>
            </a:avLst>
          </a:prstGeom>
          <a:solidFill>
            <a:srgbClr val="F3F6FE"/>
          </a:solidFill>
          <a:ln/>
          <a:effectLst>
            <a:outerShdw sx="100000" sy="100000" kx="0" ky="0" algn="bl" rotWithShape="0" blurRad="76200" dist="38100" dir="2700000">
              <a:srgbClr val="000000">
                <a:alpha val="1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2345436" y="196596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Bigjpg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2345436" y="256032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bigjpg.com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345436" y="3200400"/>
            <a:ext cx="749808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345436" y="3383280"/>
            <a:ext cx="74980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 팁  </a:t>
            </a:r>
            <a:pPr indent="0" marL="0">
              <a:buNone/>
            </a:pPr>
            <a:r>
              <a:rPr lang="en-US" sz="1400" dirty="0">
                <a:solidFill>
                  <a:srgbClr val="33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생성 이미지 업스케일에 특화, 무료 사용량 일일 제한 있음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274552" y="6355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294" y="618134"/>
            <a:ext cx="592531" cy="5925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91640" y="5029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무료 이미지 수급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640080" y="1691640"/>
            <a:ext cx="5257800" cy="4206240"/>
          </a:xfrm>
          <a:prstGeom prst="roundRect">
            <a:avLst>
              <a:gd name="adj" fmla="val 2609"/>
            </a:avLst>
          </a:prstGeom>
          <a:solidFill>
            <a:srgbClr val="F3F6FE"/>
          </a:solidFill>
          <a:ln/>
          <a:effectLst>
            <a:outerShdw sx="100000" sy="100000" kx="0" ky="0" algn="bl" rotWithShape="0" blurRad="76200" dist="38100" dir="2700000">
              <a:srgbClr val="000000">
                <a:alpha val="1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05840" y="196596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Pixabay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005840" y="256032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pixabay.com/ko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005840" y="3200400"/>
            <a:ext cx="452628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05840" y="3383280"/>
            <a:ext cx="45262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 팁  </a:t>
            </a:r>
            <a:pPr indent="0" marL="0">
              <a:buNone/>
            </a:pPr>
            <a:r>
              <a:rPr lang="en-US" sz="1400" dirty="0">
                <a:solidFill>
                  <a:srgbClr val="33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다운로드 시 라이선스 안내 확인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172200" y="1691640"/>
            <a:ext cx="5257800" cy="4206240"/>
          </a:xfrm>
          <a:prstGeom prst="roundRect">
            <a:avLst>
              <a:gd name="adj" fmla="val 2609"/>
            </a:avLst>
          </a:prstGeom>
          <a:solidFill>
            <a:srgbClr val="F3F6FE"/>
          </a:solidFill>
          <a:ln/>
          <a:effectLst>
            <a:outerShdw sx="100000" sy="100000" kx="0" ky="0" algn="bl" rotWithShape="0" blurRad="76200" dist="38100" dir="2700000">
              <a:srgbClr val="000000">
                <a:alpha val="1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537960" y="196596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Unsplash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6537960" y="256032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unsplash.com/ko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537960" y="3200400"/>
            <a:ext cx="452628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37960" y="3383280"/>
            <a:ext cx="45262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 팁  </a:t>
            </a:r>
            <a:pPr indent="0" marL="0">
              <a:buNone/>
            </a:pPr>
            <a:r>
              <a:rPr lang="en-US" sz="1400" dirty="0">
                <a:solidFill>
                  <a:srgbClr val="33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 표기 없이도 상업적 사용 가능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1274552" y="6355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294" y="618134"/>
            <a:ext cx="592531" cy="5925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91640" y="5029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그래픽 레퍼런스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1979676" y="1691640"/>
            <a:ext cx="8229600" cy="4206240"/>
          </a:xfrm>
          <a:prstGeom prst="roundRect">
            <a:avLst>
              <a:gd name="adj" fmla="val 2609"/>
            </a:avLst>
          </a:prstGeom>
          <a:solidFill>
            <a:srgbClr val="F3F6FE"/>
          </a:solidFill>
          <a:ln/>
          <a:effectLst>
            <a:outerShdw sx="100000" sy="100000" kx="0" ky="0" algn="bl" rotWithShape="0" blurRad="76200" dist="38100" dir="2700000">
              <a:srgbClr val="000000">
                <a:alpha val="1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2345436" y="196596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노트폴리오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2345436" y="256032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notefolio.net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345436" y="3200400"/>
            <a:ext cx="749808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345436" y="3383280"/>
            <a:ext cx="74980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 팁  </a:t>
            </a:r>
            <a:pPr indent="0" marL="0">
              <a:buNone/>
            </a:pPr>
            <a:r>
              <a:rPr lang="en-US" sz="1400" dirty="0">
                <a:solidFill>
                  <a:srgbClr val="33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분야별 카테고리 필터링 활용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274552" y="6355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294" y="618134"/>
            <a:ext cx="592531" cy="5925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91640" y="5029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영상 레퍼런스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640080" y="1691640"/>
            <a:ext cx="5257800" cy="4206240"/>
          </a:xfrm>
          <a:prstGeom prst="roundRect">
            <a:avLst>
              <a:gd name="adj" fmla="val 2609"/>
            </a:avLst>
          </a:prstGeom>
          <a:solidFill>
            <a:srgbClr val="F3F6FE"/>
          </a:solidFill>
          <a:ln/>
          <a:effectLst>
            <a:outerShdw sx="100000" sy="100000" kx="0" ky="0" algn="bl" rotWithShape="0" blurRad="76200" dist="38100" dir="2700000">
              <a:srgbClr val="000000">
                <a:alpha val="1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05840" y="196596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드랍샷매치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005840" y="256032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match.dropshot.io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005840" y="3200400"/>
            <a:ext cx="452628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05840" y="3383280"/>
            <a:ext cx="45262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 팁  </a:t>
            </a:r>
            <a:pPr indent="0" marL="0">
              <a:buNone/>
            </a:pPr>
            <a:r>
              <a:rPr lang="en-US" sz="1400" dirty="0">
                <a:solidFill>
                  <a:srgbClr val="33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국내 서비스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172200" y="1691640"/>
            <a:ext cx="5257800" cy="4206240"/>
          </a:xfrm>
          <a:prstGeom prst="roundRect">
            <a:avLst>
              <a:gd name="adj" fmla="val 2609"/>
            </a:avLst>
          </a:prstGeom>
          <a:solidFill>
            <a:srgbClr val="F3F6FE"/>
          </a:solidFill>
          <a:ln/>
          <a:effectLst>
            <a:outerShdw sx="100000" sy="100000" kx="0" ky="0" algn="bl" rotWithShape="0" blurRad="76200" dist="38100" dir="2700000">
              <a:srgbClr val="000000">
                <a:alpha val="1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537960" y="196596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Vimeo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6537960" y="256032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vimeo.com/watch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537960" y="3200400"/>
            <a:ext cx="452628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37960" y="3383280"/>
            <a:ext cx="45262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 팁  </a:t>
            </a:r>
            <a:pPr indent="0" marL="0">
              <a:buNone/>
            </a:pPr>
            <a:r>
              <a:rPr lang="en-US" sz="1400" dirty="0">
                <a:solidFill>
                  <a:srgbClr val="33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"왜 좋았는지" 한 줄 메모 남기기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1274552" y="6355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48472" y="2148840"/>
            <a:ext cx="2560320" cy="2560320"/>
          </a:xfrm>
          <a:prstGeom prst="ellipse">
            <a:avLst/>
          </a:prstGeom>
          <a:solidFill>
            <a:srgbClr val="2A3B8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06917" y="2507285"/>
            <a:ext cx="1843430" cy="18434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55448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9600" dirty="0"/>
          </a:p>
        </p:txBody>
      </p:sp>
      <p:sp>
        <p:nvSpPr>
          <p:cNvPr id="5" name="Text 2"/>
          <p:cNvSpPr/>
          <p:nvPr/>
        </p:nvSpPr>
        <p:spPr>
          <a:xfrm>
            <a:off x="777240" y="32004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프롬프트 입력법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777240" y="4343400"/>
            <a:ext cx="2377440" cy="502920"/>
          </a:xfrm>
          <a:prstGeom prst="roundRect">
            <a:avLst>
              <a:gd name="adj" fmla="val 50909"/>
            </a:avLst>
          </a:prstGeom>
          <a:solidFill>
            <a:srgbClr val="02C39A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43434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45분 · 핵심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274552" y="6355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294" y="618134"/>
            <a:ext cx="592531" cy="5925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91640" y="50292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프롬프트란?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85800" y="1600200"/>
            <a:ext cx="1078992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33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AI에게 주는 지시문</a:t>
            </a:r>
            <a:endParaRPr lang="en-US" sz="19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33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"질문"이 아니라 "의뢰서"에 가깝다</a:t>
            </a:r>
            <a:endParaRPr lang="en-US" sz="19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33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의뢰서가 부실하면 결과도 부실, 꼼꼼하면 결과도 꼼꼼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1274552" y="6355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294" y="618134"/>
            <a:ext cx="592531" cy="5925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91640" y="5029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4요소 프레임워크 — "역 · 맥 · 작 · 형"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640080" y="1691640"/>
            <a:ext cx="5257800" cy="2148840"/>
          </a:xfrm>
          <a:prstGeom prst="roundRect">
            <a:avLst>
              <a:gd name="adj" fmla="val 4255"/>
            </a:avLst>
          </a:prstGeom>
          <a:solidFill>
            <a:srgbClr val="F3F6FE"/>
          </a:solidFill>
          <a:ln/>
          <a:effectLst>
            <a:outerShdw sx="100000" sy="100000" kx="0" ky="0" algn="bl" rotWithShape="0" blurRad="76200" dist="38100" dir="2700000">
              <a:srgbClr val="000000">
                <a:alpha val="1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14400" y="1874520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역할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914400" y="2423160"/>
            <a:ext cx="4709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누구로서 답할지 — "누구 입장에서 답해야 하나?"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172200" y="1691640"/>
            <a:ext cx="5257800" cy="2148840"/>
          </a:xfrm>
          <a:prstGeom prst="roundRect">
            <a:avLst>
              <a:gd name="adj" fmla="val 4255"/>
            </a:avLst>
          </a:prstGeom>
          <a:solidFill>
            <a:srgbClr val="F3F6FE"/>
          </a:solidFill>
          <a:ln/>
          <a:effectLst>
            <a:outerShdw sx="100000" sy="100000" kx="0" ky="0" algn="bl" rotWithShape="0" blurRad="76200" dist="38100" dir="2700000">
              <a:srgbClr val="000000">
                <a:alpha val="1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46520" y="1874520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맥락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446520" y="2423160"/>
            <a:ext cx="4709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어떤 상황 · 배경 · 자료인지 — "지금 상황이 어떤데?"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40080" y="4114800"/>
            <a:ext cx="5257800" cy="2148840"/>
          </a:xfrm>
          <a:prstGeom prst="roundRect">
            <a:avLst>
              <a:gd name="adj" fmla="val 4255"/>
            </a:avLst>
          </a:prstGeom>
          <a:solidFill>
            <a:srgbClr val="F3F6FE"/>
          </a:solidFill>
          <a:ln/>
          <a:effectLst>
            <a:outerShdw sx="100000" sy="100000" kx="0" ky="0" algn="bl" rotWithShape="0" blurRad="76200" dist="38100" dir="2700000">
              <a:srgbClr val="000000">
                <a:alpha val="1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914400" y="4297680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작업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914400" y="4846320"/>
            <a:ext cx="4709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정확히 무엇을 해야 하는지 — "정확히 뭘 만들어야 하나?"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172200" y="4114800"/>
            <a:ext cx="5257800" cy="2148840"/>
          </a:xfrm>
          <a:prstGeom prst="roundRect">
            <a:avLst>
              <a:gd name="adj" fmla="val 4255"/>
            </a:avLst>
          </a:prstGeom>
          <a:solidFill>
            <a:srgbClr val="F3F6FE"/>
          </a:solidFill>
          <a:ln/>
          <a:effectLst>
            <a:outerShdw sx="100000" sy="100000" kx="0" ky="0" algn="bl" rotWithShape="0" blurRad="76200" dist="38100" dir="2700000">
              <a:srgbClr val="000000">
                <a:alpha val="1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446520" y="4297680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형식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6446520" y="4846320"/>
            <a:ext cx="4709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분량 · 형태 · 톤이 어때야 하는지 — "어떤 모양으로 받고 싶나?"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1274552" y="6355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294" y="618134"/>
            <a:ext cx="592531" cy="5925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91640" y="5029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비교 1: 식단 짜기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640080" y="1691640"/>
            <a:ext cx="5029200" cy="4480560"/>
          </a:xfrm>
          <a:prstGeom prst="roundRect">
            <a:avLst>
              <a:gd name="adj" fmla="val 2449"/>
            </a:avLst>
          </a:prstGeom>
          <a:solidFill>
            <a:srgbClr val="FCEDEC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011680"/>
            <a:ext cx="502920" cy="5029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554480" y="19659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나쁜 예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914400" y="2743200"/>
            <a:ext cx="44805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다이어트 알려줘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6537960" y="1691640"/>
            <a:ext cx="5029200" cy="4480560"/>
          </a:xfrm>
          <a:prstGeom prst="roundRect">
            <a:avLst>
              <a:gd name="adj" fmla="val 2449"/>
            </a:avLst>
          </a:prstGeom>
          <a:solidFill>
            <a:srgbClr val="E6F7F3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2011680"/>
            <a:ext cx="502920" cy="5029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452360" y="19659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좋은 예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6812280" y="2743200"/>
            <a:ext cx="44805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당신은 영양사입니다(역할). 30대 직장인이 점심 외식이 잦은 상황에서(맥락), 2주 식단표를 만들어 주세요(작업). 표로, 하루 3끼 · 간식 포함, 500자 이내로(형식).</a:t>
            </a:r>
            <a:endParaRPr lang="en-US" sz="16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3680460"/>
            <a:ext cx="502920" cy="5029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274552" y="6355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294" y="618134"/>
            <a:ext cx="592531" cy="5925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91640" y="5029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비교 2: PPT 목차 짜기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640080" y="1691640"/>
            <a:ext cx="5029200" cy="4480560"/>
          </a:xfrm>
          <a:prstGeom prst="roundRect">
            <a:avLst>
              <a:gd name="adj" fmla="val 2449"/>
            </a:avLst>
          </a:prstGeom>
          <a:solidFill>
            <a:srgbClr val="FCEDEC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011680"/>
            <a:ext cx="502920" cy="5029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554480" y="19659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나쁜 예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914400" y="2743200"/>
            <a:ext cx="44805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만들어줘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6537960" y="1691640"/>
            <a:ext cx="5029200" cy="4480560"/>
          </a:xfrm>
          <a:prstGeom prst="roundRect">
            <a:avLst>
              <a:gd name="adj" fmla="val 2449"/>
            </a:avLst>
          </a:prstGeom>
          <a:solidFill>
            <a:srgbClr val="E6F7F3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2011680"/>
            <a:ext cx="502920" cy="5029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452360" y="19659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좋은 예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6812280" y="2743200"/>
            <a:ext cx="44805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신입사원 대상 보안교육 PPT 목차를 만들어줘(작업). 10장 분량, 각 장 제목 + 핵심 3줄, 실무 예시 포함해서(형식).</a:t>
            </a:r>
            <a:endParaRPr lang="en-US" sz="16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3680460"/>
            <a:ext cx="502920" cy="5029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274552" y="6355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294" y="618134"/>
            <a:ext cx="592531" cy="5925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91640" y="5029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비교 3: 이미지 생성 프롬프트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640080" y="1691640"/>
            <a:ext cx="5029200" cy="4480560"/>
          </a:xfrm>
          <a:prstGeom prst="roundRect">
            <a:avLst>
              <a:gd name="adj" fmla="val 2449"/>
            </a:avLst>
          </a:prstGeom>
          <a:solidFill>
            <a:srgbClr val="FCEDEC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011680"/>
            <a:ext cx="502920" cy="5029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554480" y="19659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나쁜 예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914400" y="2743200"/>
            <a:ext cx="44805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 프롬프트 줘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6537960" y="1691640"/>
            <a:ext cx="5029200" cy="4480560"/>
          </a:xfrm>
          <a:prstGeom prst="roundRect">
            <a:avLst>
              <a:gd name="adj" fmla="val 2449"/>
            </a:avLst>
          </a:prstGeom>
          <a:solidFill>
            <a:srgbClr val="E6F7F3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2011680"/>
            <a:ext cx="502920" cy="5029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452360" y="19659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좋은 예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6812280" y="2743200"/>
            <a:ext cx="44805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따뜻한 카페 창가, 아침 햇살, 필름 감성(맥락)의 이미지 생성 프롬프트를, 4:5 비율로(형식) 영어로 만들어줘(작업).</a:t>
            </a:r>
            <a:endParaRPr lang="en-US" sz="16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3680460"/>
            <a:ext cx="502920" cy="5029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274552" y="6355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294" y="618134"/>
            <a:ext cx="592531" cy="5925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91640" y="50292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심화 기법 (1)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85800" y="1600200"/>
            <a:ext cx="1078992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33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예시 주기(few-shot) — 원하는 스타일 샘플을 1~2개 보여주기</a:t>
            </a:r>
            <a:endParaRPr lang="en-US" sz="19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33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단계적 사고 요청 — "차근차근 단계별로 설명해줘"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1274552" y="6355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294" y="618134"/>
            <a:ext cx="592531" cy="5925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91640" y="50292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심화 기법 (2)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85800" y="1600200"/>
            <a:ext cx="1078992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33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페르소나 지정 — "친절한 초등학교 선생님처럼"</a:t>
            </a:r>
            <a:endParaRPr lang="en-US" sz="19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33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 형식 지정 — 표 / 불릿 / 개조식 / 글자수 제한</a:t>
            </a:r>
            <a:endParaRPr lang="en-US" sz="19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33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반복 개선(피드백 루프) — 1차 결과 → "더 짧게" → 2차 결과</a:t>
            </a:r>
            <a:endParaRPr lang="en-US" sz="19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33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제약조건 명시 — "전문용어 쓰지 말고", "한국 상황 기준으로"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1274552" y="6355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294" y="618134"/>
            <a:ext cx="592531" cy="5925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91640" y="50292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실습 1: 내 업무 이메일 초안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9811512" y="59436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E6F7F3"/>
          </a:solidFill>
          <a:ln/>
        </p:spPr>
      </p:sp>
      <p:sp>
        <p:nvSpPr>
          <p:cNvPr id="6" name="Text 3"/>
          <p:cNvSpPr/>
          <p:nvPr/>
        </p:nvSpPr>
        <p:spPr>
          <a:xfrm>
            <a:off x="9811512" y="5943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 5분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85800" y="1600200"/>
            <a:ext cx="1078992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33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나쁜 프롬프트로 먼저: "이메일 써줘"</a:t>
            </a:r>
            <a:endParaRPr lang="en-US" sz="19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33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확인 (대부분 너무 일반적이고 밋밋함)</a:t>
            </a:r>
            <a:endParaRPr lang="en-US" sz="19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33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개선: 역할(마케팅팀 대리) + 맥락(납기 지연) + 작업(양해 이메일) + 형식(200자, 담백하게)</a:t>
            </a:r>
            <a:endParaRPr lang="en-US" sz="19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33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비교 — 무엇이 달라졌는지 확인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1274552" y="6355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294" y="618134"/>
            <a:ext cx="592531" cy="5925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91640" y="50292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실습 2: PPT 목차 만들기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9811512" y="59436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E6F7F3"/>
          </a:solidFill>
          <a:ln/>
        </p:spPr>
      </p:sp>
      <p:sp>
        <p:nvSpPr>
          <p:cNvPr id="6" name="Text 3"/>
          <p:cNvSpPr/>
          <p:nvPr/>
        </p:nvSpPr>
        <p:spPr>
          <a:xfrm>
            <a:off x="9811512" y="5943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 5분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85800" y="1600200"/>
            <a:ext cx="1078992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33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나쁜 프롬프트: "PPT 목차 만들어줘"</a:t>
            </a:r>
            <a:endParaRPr lang="en-US" sz="19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33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개선: 신입사원 대상 회사소개 PPT, 8장 분량, 각 장 제목만, 스토리 흐름으로</a:t>
            </a:r>
            <a:endParaRPr lang="en-US" sz="19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33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비교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1274552" y="6355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294" y="618134"/>
            <a:ext cx="592531" cy="5925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91640" y="50292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실습 3: 이미지 생성 프롬프트 만들기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9811512" y="59436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E6F7F3"/>
          </a:solidFill>
          <a:ln/>
        </p:spPr>
      </p:sp>
      <p:sp>
        <p:nvSpPr>
          <p:cNvPr id="6" name="Text 3"/>
          <p:cNvSpPr/>
          <p:nvPr/>
        </p:nvSpPr>
        <p:spPr>
          <a:xfrm>
            <a:off x="9811512" y="5943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 5분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85800" y="1600200"/>
            <a:ext cx="1078992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33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나쁜 프롬프트: "예쁜 이미지 프롬프트 줘"</a:t>
            </a:r>
            <a:endParaRPr lang="en-US" sz="19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33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개선: 카페 작업 사진, 따뜻한 톤, 1:1 비율, 영어 프롬프트</a:t>
            </a:r>
            <a:endParaRPr lang="en-US" sz="19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33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섹션2의 이미지 · 업스케일 사이트와 연결해서 활용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1274552" y="6355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294" y="618134"/>
            <a:ext cx="592531" cy="5925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91640" y="50292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자주 하는 실수 5가지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85800" y="1600200"/>
            <a:ext cx="1078992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33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너무 짧고 모호함 — "잘 써줘", "좋게 해줘"</a:t>
            </a:r>
            <a:endParaRPr lang="en-US" sz="19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33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맥락 없음 — 상황 설명 없이 결과만 요구</a:t>
            </a:r>
            <a:endParaRPr lang="en-US" sz="19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33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번에 다 요구 — 여러 작업을 한 문장에 욱여넣기</a:t>
            </a:r>
            <a:endParaRPr lang="en-US" sz="19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33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검증 안 함 — 특히 사실 · 수치 · 인용</a:t>
            </a:r>
            <a:endParaRPr lang="en-US" sz="19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33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형식 미지정 — 표를 원했는데 줄글로 나옴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1274552" y="6355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294" y="618134"/>
            <a:ext cx="592531" cy="5925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91640" y="5029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프롬프트 개선 사이클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1417320" y="2377440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3"/>
          <p:cNvSpPr/>
          <p:nvPr/>
        </p:nvSpPr>
        <p:spPr>
          <a:xfrm>
            <a:off x="1417320" y="2377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640080" y="32918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작성</a:t>
            </a:r>
            <a:endParaRPr lang="en-US" sz="15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4320" y="2514600"/>
            <a:ext cx="411785" cy="4572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291584" y="2377440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6"/>
          <p:cNvSpPr/>
          <p:nvPr/>
        </p:nvSpPr>
        <p:spPr>
          <a:xfrm>
            <a:off x="4291584" y="2377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3514344" y="32918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확인</a:t>
            </a:r>
            <a:endParaRPr lang="en-US" sz="15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8584" y="2514600"/>
            <a:ext cx="411785" cy="4572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165848" y="2377440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9"/>
          <p:cNvSpPr/>
          <p:nvPr/>
        </p:nvSpPr>
        <p:spPr>
          <a:xfrm>
            <a:off x="7165848" y="2377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0"/>
          <p:cNvSpPr/>
          <p:nvPr/>
        </p:nvSpPr>
        <p:spPr>
          <a:xfrm>
            <a:off x="6388608" y="32918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피드백</a:t>
            </a:r>
            <a:endParaRPr lang="en-US" sz="15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2848" y="2514600"/>
            <a:ext cx="411785" cy="45720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10040112" y="2377440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2"/>
          <p:cNvSpPr/>
          <p:nvPr/>
        </p:nvSpPr>
        <p:spPr>
          <a:xfrm>
            <a:off x="10040112" y="2377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19" name="Text 13"/>
          <p:cNvSpPr/>
          <p:nvPr/>
        </p:nvSpPr>
        <p:spPr>
          <a:xfrm>
            <a:off x="9262872" y="32918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재작성</a:t>
            </a:r>
            <a:endParaRPr lang="en-US" sz="15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0156" y="4480560"/>
            <a:ext cx="548640" cy="5486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40080" y="5120640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번에 완벽한 프롬프트는 없습니다 — 결과를 보고 한 문장으로 피드백을 주는 것만으로도 눈에 띄게 좋아집니다.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11274552" y="6355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48472" y="2148840"/>
            <a:ext cx="2560320" cy="2560320"/>
          </a:xfrm>
          <a:prstGeom prst="ellipse">
            <a:avLst/>
          </a:prstGeom>
          <a:solidFill>
            <a:srgbClr val="2A3B8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06917" y="2507285"/>
            <a:ext cx="1843430" cy="18434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55448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9600" dirty="0"/>
          </a:p>
        </p:txBody>
      </p:sp>
      <p:sp>
        <p:nvSpPr>
          <p:cNvPr id="5" name="Text 2"/>
          <p:cNvSpPr/>
          <p:nvPr/>
        </p:nvSpPr>
        <p:spPr>
          <a:xfrm>
            <a:off x="777240" y="32004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Code 소개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777240" y="4343400"/>
            <a:ext cx="2377440" cy="502920"/>
          </a:xfrm>
          <a:prstGeom prst="roundRect">
            <a:avLst>
              <a:gd name="adj" fmla="val 50909"/>
            </a:avLst>
          </a:prstGeom>
          <a:solidFill>
            <a:srgbClr val="02C39A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43434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30분 · 실습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274552" y="6355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294" y="618134"/>
            <a:ext cx="592531" cy="5925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91640" y="50292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Code란?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85800" y="1600200"/>
            <a:ext cx="1078992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33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터미널(또는 에디터) 안에서 AI가 직접 파일을 읽고, 고치고, 명령까지 실행하는 코딩 에이전트</a:t>
            </a:r>
            <a:endParaRPr lang="en-US" sz="19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33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섹션1의 "손발 달린 비서" 개념의 실물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1274552" y="6355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294" y="618134"/>
            <a:ext cx="592531" cy="5925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91640" y="5029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온라인 git으로 다른 로컬 이동작업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731520" y="2651760"/>
            <a:ext cx="3108960" cy="2377440"/>
          </a:xfrm>
          <a:prstGeom prst="roundRect">
            <a:avLst>
              <a:gd name="adj" fmla="val 4615"/>
            </a:avLst>
          </a:prstGeom>
          <a:solidFill>
            <a:srgbClr val="F3F6FE"/>
          </a:solidFill>
          <a:ln/>
          <a:effectLst>
            <a:outerShdw sx="100000" sy="100000" kx="0" ky="0" algn="bl" rotWithShape="0" blurRad="76200" dist="38100" dir="2700000">
              <a:srgbClr val="000000">
                <a:alpha val="15000"/>
              </a:srgbClr>
            </a:outerShdw>
          </a:effectLst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520" y="2971800"/>
            <a:ext cx="822960" cy="8229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4400" y="3931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내 PC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914400" y="43891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로컬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4539996" y="2651760"/>
            <a:ext cx="3108960" cy="2377440"/>
          </a:xfrm>
          <a:prstGeom prst="roundRect">
            <a:avLst>
              <a:gd name="adj" fmla="val 4615"/>
            </a:avLst>
          </a:prstGeom>
          <a:solidFill>
            <a:srgbClr val="F3F6FE"/>
          </a:solidFill>
          <a:ln/>
          <a:effectLst>
            <a:outerShdw sx="100000" sy="100000" kx="0" ky="0" algn="bl" rotWithShape="0" blurRad="76200" dist="38100" dir="2700000">
              <a:srgbClr val="000000">
                <a:alpha val="15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2996" y="2971800"/>
            <a:ext cx="822960" cy="8229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722876" y="3931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</a:t>
            </a:r>
            <a:endParaRPr lang="en-US" sz="1700" dirty="0"/>
          </a:p>
        </p:txBody>
      </p:sp>
      <p:sp>
        <p:nvSpPr>
          <p:cNvPr id="12" name="Text 7"/>
          <p:cNvSpPr/>
          <p:nvPr/>
        </p:nvSpPr>
        <p:spPr>
          <a:xfrm>
            <a:off x="4722876" y="43891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원격 저장소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8348472" y="2651760"/>
            <a:ext cx="3108960" cy="2377440"/>
          </a:xfrm>
          <a:prstGeom prst="roundRect">
            <a:avLst>
              <a:gd name="adj" fmla="val 4615"/>
            </a:avLst>
          </a:prstGeom>
          <a:solidFill>
            <a:srgbClr val="F3F6FE"/>
          </a:solidFill>
          <a:ln/>
          <a:effectLst>
            <a:outerShdw sx="100000" sy="100000" kx="0" ky="0" algn="bl" rotWithShape="0" blurRad="76200" dist="38100" dir="2700000">
              <a:srgbClr val="000000">
                <a:alpha val="15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1472" y="2971800"/>
            <a:ext cx="822960" cy="8229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531352" y="3931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다른 PC</a:t>
            </a:r>
            <a:endParaRPr lang="en-US" sz="1700" dirty="0"/>
          </a:p>
        </p:txBody>
      </p:sp>
      <p:sp>
        <p:nvSpPr>
          <p:cNvPr id="16" name="Text 10"/>
          <p:cNvSpPr/>
          <p:nvPr/>
        </p:nvSpPr>
        <p:spPr>
          <a:xfrm>
            <a:off x="8531352" y="43891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로컬</a:t>
            </a:r>
            <a:endParaRPr lang="en-US" sz="12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5918" y="3337560"/>
            <a:ext cx="548640" cy="548640"/>
          </a:xfrm>
          <a:prstGeom prst="rect">
            <a:avLst/>
          </a:prstGeom>
        </p:spPr>
      </p:pic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24394" y="3337560"/>
            <a:ext cx="548640" cy="54864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731520" y="516636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 파일을 온라인 창고에 올려두면, 어디서든 이어서 작업할 수 있습니다.</a:t>
            </a:r>
            <a:endParaRPr lang="en-US" sz="1300" dirty="0"/>
          </a:p>
        </p:txBody>
      </p:sp>
      <p:sp>
        <p:nvSpPr>
          <p:cNvPr id="20" name="Text 12"/>
          <p:cNvSpPr/>
          <p:nvPr/>
        </p:nvSpPr>
        <p:spPr>
          <a:xfrm>
            <a:off x="11274552" y="6355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294" y="618134"/>
            <a:ext cx="592531" cy="5925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91640" y="5029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핵심 4동사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640080" y="1691640"/>
            <a:ext cx="5257800" cy="2148840"/>
          </a:xfrm>
          <a:prstGeom prst="roundRect">
            <a:avLst>
              <a:gd name="adj" fmla="val 4255"/>
            </a:avLst>
          </a:prstGeom>
          <a:solidFill>
            <a:srgbClr val="F3F6FE"/>
          </a:solidFill>
          <a:ln/>
          <a:effectLst>
            <a:outerShdw sx="100000" sy="100000" kx="0" ky="0" algn="bl" rotWithShape="0" blurRad="76200" dist="38100" dir="2700000">
              <a:srgbClr val="000000">
                <a:alpha val="1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14400" y="1874520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clone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914400" y="2423160"/>
            <a:ext cx="4709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온라인 저장소를 처음 내 컴퓨터로 복제하기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172200" y="1691640"/>
            <a:ext cx="5257800" cy="2148840"/>
          </a:xfrm>
          <a:prstGeom prst="roundRect">
            <a:avLst>
              <a:gd name="adj" fmla="val 4255"/>
            </a:avLst>
          </a:prstGeom>
          <a:solidFill>
            <a:srgbClr val="F3F6FE"/>
          </a:solidFill>
          <a:ln/>
          <a:effectLst>
            <a:outerShdw sx="100000" sy="100000" kx="0" ky="0" algn="bl" rotWithShape="0" blurRad="76200" dist="38100" dir="2700000">
              <a:srgbClr val="000000">
                <a:alpha val="1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46520" y="1874520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pull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446520" y="2423160"/>
            <a:ext cx="4709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온라인 저장소의 최신 내용을 받아오기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40080" y="4114800"/>
            <a:ext cx="5257800" cy="2148840"/>
          </a:xfrm>
          <a:prstGeom prst="roundRect">
            <a:avLst>
              <a:gd name="adj" fmla="val 4255"/>
            </a:avLst>
          </a:prstGeom>
          <a:solidFill>
            <a:srgbClr val="F3F6FE"/>
          </a:solidFill>
          <a:ln/>
          <a:effectLst>
            <a:outerShdw sx="100000" sy="100000" kx="0" ky="0" algn="bl" rotWithShape="0" blurRad="76200" dist="38100" dir="2700000">
              <a:srgbClr val="000000">
                <a:alpha val="1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914400" y="4297680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commit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914400" y="4846320"/>
            <a:ext cx="4709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내가 바꾼 내용을 "기록"으로 남기기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172200" y="4114800"/>
            <a:ext cx="5257800" cy="2148840"/>
          </a:xfrm>
          <a:prstGeom prst="roundRect">
            <a:avLst>
              <a:gd name="adj" fmla="val 4255"/>
            </a:avLst>
          </a:prstGeom>
          <a:solidFill>
            <a:srgbClr val="F3F6FE"/>
          </a:solidFill>
          <a:ln/>
          <a:effectLst>
            <a:outerShdw sx="100000" sy="100000" kx="0" ky="0" algn="bl" rotWithShape="0" blurRad="76200" dist="38100" dir="2700000">
              <a:srgbClr val="000000">
                <a:alpha val="1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446520" y="4297680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push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6446520" y="4846320"/>
            <a:ext cx="4709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내가 기록한 변경 내용을 온라인 저장소에 올리기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1274552" y="6355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294" y="618134"/>
            <a:ext cx="592531" cy="5925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91640" y="5029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실습 명령 (1): 저장소 복제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822960" y="1828800"/>
            <a:ext cx="10515600" cy="2011680"/>
          </a:xfrm>
          <a:prstGeom prst="roundRect">
            <a:avLst>
              <a:gd name="adj" fmla="val 4545"/>
            </a:avLst>
          </a:prstGeom>
          <a:solidFill>
            <a:srgbClr val="1E1E28"/>
          </a:solidFill>
          <a:ln/>
        </p:spPr>
      </p:sp>
      <p:sp>
        <p:nvSpPr>
          <p:cNvPr id="6" name="Text 3"/>
          <p:cNvSpPr/>
          <p:nvPr/>
        </p:nvSpPr>
        <p:spPr>
          <a:xfrm>
            <a:off x="1188720" y="1828800"/>
            <a:ext cx="9784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다른 폴더(또는 다른 PC)에서 실행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https://github.com/capshinsmg-blip/AI-Education.git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22960" y="4114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본인 PC에서 실제로 실행해보기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274552" y="6355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294" y="618134"/>
            <a:ext cx="592531" cy="5925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91640" y="5029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실습 명령 (2): 수정 후 올리기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822960" y="1828800"/>
            <a:ext cx="10515600" cy="2148840"/>
          </a:xfrm>
          <a:prstGeom prst="roundRect">
            <a:avLst>
              <a:gd name="adj" fmla="val 4255"/>
            </a:avLst>
          </a:prstGeom>
          <a:solidFill>
            <a:srgbClr val="1E1E28"/>
          </a:solidFill>
          <a:ln/>
        </p:spPr>
      </p:sp>
      <p:sp>
        <p:nvSpPr>
          <p:cNvPr id="6" name="Text 3"/>
          <p:cNvSpPr/>
          <p:nvPr/>
        </p:nvSpPr>
        <p:spPr>
          <a:xfrm>
            <a:off x="1188720" y="1828800"/>
            <a:ext cx="978408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-A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"update: 실습 수정"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origin main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22960" y="4251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하나를 살짝 수정한 뒤 push까지 직접 해보기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274552" y="6355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294" y="618134"/>
            <a:ext cx="592531" cy="5925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91640" y="50292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스킬이란?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85800" y="1600200"/>
            <a:ext cx="1078992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33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Code에 특정 작업 능력을 더해주는 확장</a:t>
            </a:r>
            <a:endParaRPr lang="en-US" sz="19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33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문서 작성(docx), 발표자료(pptx), 표 작업(xlsx)</a:t>
            </a:r>
            <a:endParaRPr lang="en-US" sz="19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33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이 슬라이드도 pptx 스킬로 만들었습니다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1274552" y="6355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294" y="618134"/>
            <a:ext cx="592531" cy="5925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91640" y="50292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스킬 탐색 · 설치 실습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9811512" y="59436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E6F7F3"/>
          </a:solidFill>
          <a:ln/>
        </p:spPr>
      </p:sp>
      <p:sp>
        <p:nvSpPr>
          <p:cNvPr id="6" name="Text 3"/>
          <p:cNvSpPr/>
          <p:nvPr/>
        </p:nvSpPr>
        <p:spPr>
          <a:xfrm>
            <a:off x="9811512" y="5943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 5분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85800" y="1600200"/>
            <a:ext cx="1078992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33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스킬/플러그인 목록에서 이름과 설명으로 검색</a:t>
            </a:r>
            <a:endParaRPr lang="en-US" sz="19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33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설치 후 "/스킬이름" 형태로 호출해서 사용</a:t>
            </a:r>
            <a:endParaRPr lang="en-US" sz="19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33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직접 스킬 하나를 찾아 설치하고 호출해보기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1274552" y="6355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294" y="618134"/>
            <a:ext cx="592531" cy="5925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91640" y="50292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섹션 요약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85800" y="1600200"/>
            <a:ext cx="1078992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33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4동사(clone · pull · commit · push)로 어디서든 이어서 작업</a:t>
            </a:r>
            <a:endParaRPr lang="en-US" sz="19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33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스킬로 Claude Code의 기능을 필요에 맞게 확장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1274552" y="6355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294" y="618134"/>
            <a:ext cx="592531" cy="5925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91640" y="50292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오늘 하루 정리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85800" y="1600200"/>
            <a:ext cx="107899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33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AI의 종류 — 생성형 AI, LLM, 코딩 AI, AI 에이전트</a:t>
            </a:r>
            <a:endParaRPr lang="en-US" sz="19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33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유용한 사이트 — 폰트, PPT 프롬프트, 이미지, 레퍼런스 6종</a:t>
            </a:r>
            <a:endParaRPr lang="en-US" sz="19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33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 4요소 — "역 · 맥 · 작 · 형"</a:t>
            </a:r>
            <a:endParaRPr lang="en-US" sz="19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33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— git 4동사 + 스킬 탐색 · 설치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685800" y="5394960"/>
            <a:ext cx="10789920" cy="914400"/>
          </a:xfrm>
          <a:prstGeom prst="roundRect">
            <a:avLst>
              <a:gd name="adj" fmla="val 8000"/>
            </a:avLst>
          </a:prstGeom>
          <a:solidFill>
            <a:srgbClr val="F3F6FE"/>
          </a:solidFill>
          <a:ln/>
          <a:effectLst>
            <a:outerShdw sx="100000" sy="100000" kx="0" ky="0" algn="bl" rotWithShape="0" blurRad="76200" dist="38100" dir="2700000">
              <a:srgbClr val="000000">
                <a:alpha val="1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14400" y="539496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치트시트  </a:t>
            </a:r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배운 내용 한 장 요약은 education/handout/99-부록-치트시트.md 에 있습니다.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274552" y="6355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54396" y="1371600"/>
            <a:ext cx="1280160" cy="1280160"/>
          </a:xfrm>
          <a:prstGeom prst="ellipse">
            <a:avLst/>
          </a:prstGeom>
          <a:solidFill>
            <a:srgbClr val="2A3B8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33618" y="1550822"/>
            <a:ext cx="921715" cy="92171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83464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 &amp; A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822960" y="39776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감사합니다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1274552" y="6355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교육</dc:title>
  <dc:subject>PptxGenJS Presentation</dc:subject>
  <dc:creator>AI Education</dc:creator>
  <cp:lastModifiedBy>AI Education</cp:lastModifiedBy>
  <cp:revision>1</cp:revision>
  <dcterms:created xsi:type="dcterms:W3CDTF">2026-07-01T04:25:16Z</dcterms:created>
  <dcterms:modified xsi:type="dcterms:W3CDTF">2026-07-01T04:25:16Z</dcterms:modified>
</cp:coreProperties>
</file>